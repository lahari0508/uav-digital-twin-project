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Gelasio" panose="020B0604020202020204" charset="0"/>
      <p:regular r:id="rId16"/>
    </p:embeddedFont>
    <p:embeddedFont>
      <p:font typeface="Gelasio Bold" panose="020B0604020202020204" charset="0"/>
      <p:regular r:id="rId17"/>
    </p:embeddedFont>
    <p:embeddedFont>
      <p:font typeface="Gelasio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67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98079"/>
            <a:ext cx="6296860" cy="188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CONTEXTUAL BANDIT-BASED ADAPTIVE SYNCHRONIZATION AND RETRAINING OF UAV NETWORK DIGITAL TWINS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3263602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Machine Learning-Based Adaptive Multi-UAV Coordination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4137620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Machine Learning (25SC2107E) — Project Review 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Members: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N. Hasini - 2520040039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Sai Lahari - 2520040023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E7440-17D8-568D-E343-C1D4B92E0F32}"/>
              </a:ext>
            </a:extLst>
          </p:cNvPr>
          <p:cNvSpPr/>
          <p:nvPr/>
        </p:nvSpPr>
        <p:spPr>
          <a:xfrm>
            <a:off x="11007306" y="6504317"/>
            <a:ext cx="1112807" cy="284672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86792"/>
            <a:ext cx="6296860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PROBLEM STATEMENT — UAVs Do Not Always Arrive Together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661475" y="1868190"/>
            <a:ext cx="6296860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Different distances and speeds create arrival-time mismatch under varying operational conditions. Environmental context (TRAFFIC, LOAD, COST) changes dynamically, so fixed control policies produce poor temporal alignment.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3221434"/>
            <a:ext cx="3059730" cy="1386185"/>
          </a:xfrm>
          <a:prstGeom prst="roundRect">
            <a:avLst>
              <a:gd name="adj" fmla="val 1981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9928" y="3429893"/>
            <a:ext cx="264282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Prototype arrival times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9928" y="3822303"/>
            <a:ext cx="264282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1 → 35.36 s · UAV 2 → 44.72 s · UAV 3 → 22.36 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8505" y="3221434"/>
            <a:ext cx="3059830" cy="1386185"/>
          </a:xfrm>
          <a:prstGeom prst="roundRect">
            <a:avLst>
              <a:gd name="adj" fmla="val 1981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06958" y="3429893"/>
            <a:ext cx="264292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Initial synchronization error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06958" y="4108351"/>
            <a:ext cx="264292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7.8567 (time spread metric)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784923"/>
            <a:ext cx="6296860" cy="1386185"/>
          </a:xfrm>
          <a:prstGeom prst="roundRect">
            <a:avLst>
              <a:gd name="adj" fmla="val 1981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9928" y="4993382"/>
            <a:ext cx="587995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Decision question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9928" y="5385792"/>
            <a:ext cx="5879953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SHOULD THE UAV DO NOW? → MOVE | WAIT / RETAIN | RETRAIN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507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PROPOSED METHOD — FROM PREDICTION TO ADAPTIVE DECISION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15814"/>
            <a:ext cx="723584" cy="868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5784" y="1260475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STEP 1 — UAV STATE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95784" y="1552972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Distance · Current speed · Arrival time · Synchronization error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984077"/>
            <a:ext cx="723584" cy="868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5784" y="2128738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STEP 2 — ML SPEED PREDICTION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95784" y="2421235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predicts required speed to minimize arrival-time spread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852341"/>
            <a:ext cx="723584" cy="8682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95784" y="2997002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STEP 3 — SYNCHRONIZATION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495784" y="3289498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Compare predicted arrival times and compute sync error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720604"/>
            <a:ext cx="723584" cy="8682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95784" y="3865265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STEP 4 — CONTEXT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495784" y="4157762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Traffic · Load · Cost · Synchronization error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588867"/>
            <a:ext cx="723584" cy="8682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95784" y="4733528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STEP 5 — CONTEXTUAL BANDIT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495784" y="5026025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Select: MOVE · WAIT/RETAIN · RETRAIN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5" y="5457130"/>
            <a:ext cx="723584" cy="8682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95784" y="5601791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STEP 6 — RE-EVALUATE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1495784" y="5894288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Observe environment changes → feedback to CONTEXT (loop)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50CD5E-76C1-13C3-7259-976BFCB2D01C}"/>
              </a:ext>
            </a:extLst>
          </p:cNvPr>
          <p:cNvSpPr/>
          <p:nvPr/>
        </p:nvSpPr>
        <p:spPr>
          <a:xfrm>
            <a:off x="11007306" y="6538822"/>
            <a:ext cx="1121434" cy="27086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364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 WORKFLOW/IMPLEMENTATION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291880"/>
            <a:ext cx="629686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control flow: UAV telemetry → ML speed prediction → synchronization check → live context aggregation → contextual bandit decision (MOVE / WAIT / RETRAIN) → action execution → environment changes → re-evaluation. RETRAIN routes back to ML SPEED PREDICTION to update the model when accuracy degrades.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Visualization includes one UAV holding position to illustrate WAIT/RETAIN and glowing arrows showing continuous feedback.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750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LAYER 1 — ML-BASED SPEED SYNCHRONIZATION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20490"/>
            <a:ext cx="4148629" cy="4148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7836" y="2667496"/>
            <a:ext cx="638863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Prototype implementation — prediction examples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147836" y="2977455"/>
            <a:ext cx="6388635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1 — Distance: 28.28 m · Original speed: 0.8 m/s · ML predicted speed: 0.629 m/s</a:t>
            </a:r>
            <a:endParaRPr lang="en-US" sz="1050" dirty="0"/>
          </a:p>
          <a:p>
            <a:pPr marL="0" indent="0" algn="l">
              <a:lnSpc>
                <a:spcPct val="115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2 — Distance: 22.36 m · Original speed: 0.5 m/s · ML predicted speed: 0.498 m/s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3 — Distance: 22.36 m · Original speed: 1.0 m/s · ML predicted speed: 0.496 m/s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147836" y="3857030"/>
            <a:ext cx="6388635" cy="19050"/>
          </a:xfrm>
          <a:prstGeom prst="roundRect">
            <a:avLst>
              <a:gd name="adj" fmla="val 49999"/>
            </a:avLst>
          </a:prstGeom>
          <a:solidFill>
            <a:srgbClr val="746558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5588893"/>
            <a:ext cx="5385558" cy="729258"/>
          </a:xfrm>
          <a:prstGeom prst="roundRect">
            <a:avLst>
              <a:gd name="adj" fmla="val 2794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797302" y="5724723"/>
            <a:ext cx="511390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7302" y="5995591"/>
            <a:ext cx="511390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 samples: 800 · Testing samples: 200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44662" y="5588893"/>
            <a:ext cx="5385558" cy="729258"/>
          </a:xfrm>
          <a:prstGeom prst="roundRect">
            <a:avLst>
              <a:gd name="adj" fmla="val 2794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6280489" y="5724723"/>
            <a:ext cx="511390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80489" y="5995591"/>
            <a:ext cx="511390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MAE: 0.0294 · R²: 0.9891</a:t>
            </a:r>
            <a:endParaRPr lang="en-US" sz="10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8CF56B-9B5A-FE8F-6259-01DA7CDA008F}"/>
              </a:ext>
            </a:extLst>
          </p:cNvPr>
          <p:cNvSpPr/>
          <p:nvPr/>
        </p:nvSpPr>
        <p:spPr>
          <a:xfrm>
            <a:off x="11015932" y="6478438"/>
            <a:ext cx="1086928" cy="322412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50590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RESULT — ARRIVAL-TIME SYNCHRONIZATION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61475" y="2160984"/>
            <a:ext cx="6296860" cy="3169940"/>
          </a:xfrm>
          <a:prstGeom prst="roundRect">
            <a:avLst>
              <a:gd name="adj" fmla="val 866"/>
            </a:avLst>
          </a:prstGeom>
          <a:solidFill>
            <a:srgbClr val="EEE8DD"/>
          </a:solidFill>
          <a:ln/>
        </p:spPr>
      </p:sp>
      <p:sp>
        <p:nvSpPr>
          <p:cNvPr id="5" name="Shape 2"/>
          <p:cNvSpPr/>
          <p:nvPr/>
        </p:nvSpPr>
        <p:spPr>
          <a:xfrm>
            <a:off x="661475" y="2160984"/>
            <a:ext cx="2098920" cy="3169940"/>
          </a:xfrm>
          <a:custGeom>
            <a:avLst/>
            <a:gdLst/>
            <a:ahLst/>
            <a:cxnLst/>
            <a:rect l="l" t="t" r="r" b="b"/>
            <a:pathLst>
              <a:path w="2098920" h="3169940">
                <a:moveTo>
                  <a:pt x="22889" y="0"/>
                </a:moveTo>
                <a:lnTo>
                  <a:pt x="2098920" y="0"/>
                </a:lnTo>
                <a:lnTo>
                  <a:pt x="2098920" y="3169940"/>
                </a:lnTo>
                <a:lnTo>
                  <a:pt x="22889" y="3169940"/>
                </a:lnTo>
                <a:arcTo wR="22889" hR="22890" stAng="5400000" swAng="5400000"/>
                <a:lnTo>
                  <a:pt x="0" y="22890"/>
                </a:lnTo>
                <a:arcTo wR="22889" hR="22890" stAng="10800000" swAng="5400000"/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844529" y="2344043"/>
            <a:ext cx="173281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BEFORE ML ADJUSTMENT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4529" y="3022501"/>
            <a:ext cx="1732812" cy="183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1: 35.36 s · UAV 2: 44.72 s · UAV 3: 22.36 s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 synchronization error: 7.8567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60395" y="2160984"/>
            <a:ext cx="2098920" cy="3169940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9" name="Shape 6"/>
          <p:cNvSpPr/>
          <p:nvPr/>
        </p:nvSpPr>
        <p:spPr>
          <a:xfrm>
            <a:off x="2760395" y="2160984"/>
            <a:ext cx="25399" cy="3169940"/>
          </a:xfrm>
          <a:prstGeom prst="roundRect">
            <a:avLst>
              <a:gd name="adj" fmla="val 50001"/>
            </a:avLst>
          </a:prstGeom>
          <a:solidFill>
            <a:srgbClr val="D4CEC3"/>
          </a:solidFill>
          <a:ln/>
        </p:spPr>
      </p:sp>
      <p:sp>
        <p:nvSpPr>
          <p:cNvPr id="10" name="Text 7"/>
          <p:cNvSpPr/>
          <p:nvPr/>
        </p:nvSpPr>
        <p:spPr>
          <a:xfrm>
            <a:off x="2943449" y="2344043"/>
            <a:ext cx="173281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AFTER ML ADJUSTMENT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943449" y="3022501"/>
            <a:ext cx="1732812" cy="2125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1: 44.97 s · UAV 2: 44.87 s · UAV 3: 45.09 s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FINAL SYNCHRONIZATION ERROR = 0.216 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59315" y="2160984"/>
            <a:ext cx="2099019" cy="3169940"/>
          </a:xfrm>
          <a:custGeom>
            <a:avLst/>
            <a:gdLst/>
            <a:ahLst/>
            <a:cxnLst/>
            <a:rect l="l" t="t" r="r" b="b"/>
            <a:pathLst>
              <a:path w="2099019" h="3169940">
                <a:moveTo>
                  <a:pt x="0" y="0"/>
                </a:moveTo>
                <a:lnTo>
                  <a:pt x="2076130" y="0"/>
                </a:lnTo>
                <a:arcTo wR="22889" hR="22890" stAng="16200000" swAng="5400000"/>
                <a:lnTo>
                  <a:pt x="2099019" y="3147050"/>
                </a:lnTo>
                <a:arcTo wR="22889" hR="22890" stAng="0" swAng="5400000"/>
                <a:lnTo>
                  <a:pt x="0" y="3169940"/>
                </a:lnTo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13" name="Shape 10"/>
          <p:cNvSpPr/>
          <p:nvPr/>
        </p:nvSpPr>
        <p:spPr>
          <a:xfrm>
            <a:off x="4859315" y="2160984"/>
            <a:ext cx="25399" cy="3169940"/>
          </a:xfrm>
          <a:prstGeom prst="roundRect">
            <a:avLst>
              <a:gd name="adj" fmla="val 50001"/>
            </a:avLst>
          </a:prstGeom>
          <a:solidFill>
            <a:srgbClr val="D4CEC3"/>
          </a:solidFill>
          <a:ln/>
        </p:spPr>
      </p:sp>
      <p:sp>
        <p:nvSpPr>
          <p:cNvPr id="14" name="Text 11"/>
          <p:cNvSpPr/>
          <p:nvPr/>
        </p:nvSpPr>
        <p:spPr>
          <a:xfrm>
            <a:off x="5042369" y="2344043"/>
            <a:ext cx="1732911" cy="858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EARLIER PROTOTYPE RUN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42369" y="3308548"/>
            <a:ext cx="1732911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Prototype improvement recorded: 7.8567 → 0.1035 (separate earlier run; do not mix with final)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1475" y="5530453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 shows arrival-time distribution reduction; final test achieved 0.216 s spread under the software prototype.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LAYER 2 — CONTEXTUAL BANDIT DECISION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80" y="1161182"/>
            <a:ext cx="4895946" cy="43482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1086967"/>
            <a:ext cx="5315512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Bandit inputs &amp; prototype decisions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15015" y="1681647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Inputs: TRAFFIC · LOAD · COST · SYNCHRONIZATION ERROR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4708" y="1936990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746558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14708" y="2109816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Prototype example (sync error = 0.216):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4708" y="2496129"/>
            <a:ext cx="531551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1 — Traffic=0.30 · Load=0.40 · Cost=0.20 · Decision: </a:t>
            </a: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WAIT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2 — Traffic=0.70 · Load=0.80 · Cost=0.70 · Decision: </a:t>
            </a: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WAIT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3 — Traffic=0.50 · Load=0.60 · Cost=0.40 · Decision: </a:t>
            </a: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WAIT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4708" y="3728712"/>
            <a:ext cx="5315512" cy="487652"/>
          </a:xfrm>
          <a:prstGeom prst="roundRect">
            <a:avLst>
              <a:gd name="adj" fmla="val 5689"/>
            </a:avLst>
          </a:prstGeom>
          <a:solidFill>
            <a:srgbClr val="ECE6D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620" y="4005962"/>
            <a:ext cx="121738" cy="974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9358" y="3774924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selected action depends on the current context — WAIT is the prototype</a:t>
            </a:r>
            <a:b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example, not a universal outcome.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D0805-DC0A-A5C4-11A1-C433F34D07EB}"/>
              </a:ext>
            </a:extLst>
          </p:cNvPr>
          <p:cNvSpPr txBox="1"/>
          <p:nvPr/>
        </p:nvSpPr>
        <p:spPr>
          <a:xfrm>
            <a:off x="7403977" y="5370990"/>
            <a:ext cx="2334827" cy="369332"/>
          </a:xfrm>
          <a:prstGeom prst="rect">
            <a:avLst/>
          </a:prstGeom>
          <a:solidFill>
            <a:srgbClr val="F9F6F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217A8F-A0EB-47DD-9915-70054E44B2C6}"/>
              </a:ext>
            </a:extLst>
          </p:cNvPr>
          <p:cNvSpPr/>
          <p:nvPr/>
        </p:nvSpPr>
        <p:spPr>
          <a:xfrm>
            <a:off x="10928809" y="6415389"/>
            <a:ext cx="1202822" cy="395056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705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ADAPTIVE WAIT / RETAIN — DECISION CHANGES WITH THE ENVIRONMENT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1475" y="1679674"/>
            <a:ext cx="153488" cy="921445"/>
          </a:xfrm>
          <a:prstGeom prst="roundRect">
            <a:avLst>
              <a:gd name="adj" fmla="val 15009"/>
            </a:avLst>
          </a:prstGeom>
          <a:solidFill>
            <a:srgbClr val="EEE8DD"/>
          </a:solidFill>
          <a:ln/>
        </p:spPr>
      </p:sp>
      <p:sp>
        <p:nvSpPr>
          <p:cNvPr id="4" name="Text 2"/>
          <p:cNvSpPr/>
          <p:nvPr/>
        </p:nvSpPr>
        <p:spPr>
          <a:xfrm>
            <a:off x="939677" y="1833166"/>
            <a:ext cx="1059054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STAGE 1 — MOVE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9677" y="2147888"/>
            <a:ext cx="1059054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advances toward target under predicted speed.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1756" y="2725837"/>
            <a:ext cx="153488" cy="921445"/>
          </a:xfrm>
          <a:prstGeom prst="roundRect">
            <a:avLst>
              <a:gd name="adj" fmla="val 15009"/>
            </a:avLst>
          </a:prstGeom>
          <a:solidFill>
            <a:srgbClr val="EEE8DD"/>
          </a:solidFill>
          <a:ln/>
        </p:spPr>
      </p:sp>
      <p:sp>
        <p:nvSpPr>
          <p:cNvPr id="7" name="Text 5"/>
          <p:cNvSpPr/>
          <p:nvPr/>
        </p:nvSpPr>
        <p:spPr>
          <a:xfrm>
            <a:off x="1169958" y="2879328"/>
            <a:ext cx="1036026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STAGE 2 — CONDITIONS CHANGE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9958" y="3194050"/>
            <a:ext cx="1036026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TRAFFIC ↑ · LOAD ↑ (context updates)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22136" y="3771999"/>
            <a:ext cx="153488" cy="921445"/>
          </a:xfrm>
          <a:prstGeom prst="roundRect">
            <a:avLst>
              <a:gd name="adj" fmla="val 15009"/>
            </a:avLst>
          </a:prstGeom>
          <a:solidFill>
            <a:srgbClr val="EEE8DD"/>
          </a:solidFill>
          <a:ln/>
        </p:spPr>
      </p:sp>
      <p:sp>
        <p:nvSpPr>
          <p:cNvPr id="10" name="Text 8"/>
          <p:cNvSpPr/>
          <p:nvPr/>
        </p:nvSpPr>
        <p:spPr>
          <a:xfrm>
            <a:off x="1400338" y="3925491"/>
            <a:ext cx="1012988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STAGE 3 — WAIT / RETAIN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00338" y="4240213"/>
            <a:ext cx="1012988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APPLIED SPEED = 0.000 m/s · STATUS: UAV WAITING / RETAINING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52516" y="4818162"/>
            <a:ext cx="153488" cy="921445"/>
          </a:xfrm>
          <a:prstGeom prst="roundRect">
            <a:avLst>
              <a:gd name="adj" fmla="val 15009"/>
            </a:avLst>
          </a:prstGeom>
          <a:solidFill>
            <a:srgbClr val="EEE8DD"/>
          </a:solidFill>
          <a:ln/>
        </p:spPr>
      </p:sp>
      <p:sp>
        <p:nvSpPr>
          <p:cNvPr id="13" name="Text 11"/>
          <p:cNvSpPr/>
          <p:nvPr/>
        </p:nvSpPr>
        <p:spPr>
          <a:xfrm>
            <a:off x="1630719" y="4971653"/>
            <a:ext cx="98995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STAGE 4 — REASSESS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30719" y="5286375"/>
            <a:ext cx="989950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NEW CONTEXT → BANDIT → NEW ACTION (MOVE / WAIT / RETRAIN)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5879902"/>
            <a:ext cx="108687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Prototype time-step example: Time step 1 → all UAVs WAIT; environment changes → time step 2 → bandit recomputes actions. WAIT is temporary retention, not permanent stop.</a:t>
            </a: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72A0B5-1BA4-DA7D-B1E1-C103B159A41E}"/>
              </a:ext>
            </a:extLst>
          </p:cNvPr>
          <p:cNvSpPr/>
          <p:nvPr/>
        </p:nvSpPr>
        <p:spPr>
          <a:xfrm>
            <a:off x="10995382" y="6460432"/>
            <a:ext cx="1133357" cy="33271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905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CURRENT PROGRESS — WORKING SOFTWARE PROTOTYPE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4382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5253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MODEL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26122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MAE = 0.0294 · R² = 0.9891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14382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85253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SYNCHRONIZATION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261221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 Error = 7.8567 · Prototype Final Error = 0.1035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4166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65038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FINAL UAV TEST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05906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1 = 0.629 m/s · UAV 2 = 0.498 m/s · UAV 3 = 0.496 m/s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941663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65038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ARRIVAL TIMES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059065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UAV 1 = 44.97 s · UAV 2 = 44.87 s · UAV 3 = 45.09 s · Final spread = 0.216 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87652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Contextual bandit available: MOVE · WAIT / RETAIN · RETRAIN · </a:t>
            </a:r>
            <a:r>
              <a:rPr lang="en-US" sz="1450" dirty="0">
                <a:solidFill>
                  <a:srgbClr val="6296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PROTOTYPE STATUS: WORKING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11F75-2224-A10E-FE27-786CA8477288}"/>
              </a:ext>
            </a:extLst>
          </p:cNvPr>
          <p:cNvSpPr/>
          <p:nvPr/>
        </p:nvSpPr>
        <p:spPr>
          <a:xfrm>
            <a:off x="11024558" y="6573328"/>
            <a:ext cx="1115247" cy="250540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959"/>
            <a:ext cx="10868745" cy="904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 STATUS — WHAT IS DONE AND WHAT COMES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707356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057995"/>
            <a:ext cx="2573571" cy="698103"/>
          </a:xfrm>
          <a:prstGeom prst="roundRect">
            <a:avLst>
              <a:gd name="adj" fmla="val 3110"/>
            </a:avLst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806132" y="2202656"/>
            <a:ext cx="228425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ML training pipeline implemented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45771" y="2057995"/>
            <a:ext cx="2573571" cy="698103"/>
          </a:xfrm>
          <a:prstGeom prst="roundRect">
            <a:avLst>
              <a:gd name="adj" fmla="val 3110"/>
            </a:avLst>
          </a:prstGeom>
          <a:solidFill>
            <a:srgbClr val="EEE8DD"/>
          </a:solidFill>
          <a:ln/>
        </p:spPr>
      </p:sp>
      <p:sp>
        <p:nvSpPr>
          <p:cNvPr id="7" name="Text 5"/>
          <p:cNvSpPr/>
          <p:nvPr/>
        </p:nvSpPr>
        <p:spPr>
          <a:xfrm>
            <a:off x="3490428" y="2202656"/>
            <a:ext cx="228425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UAV speed prediction implemented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866827"/>
            <a:ext cx="2573571" cy="698103"/>
          </a:xfrm>
          <a:prstGeom prst="roundRect">
            <a:avLst>
              <a:gd name="adj" fmla="val 3110"/>
            </a:avLst>
          </a:prstGeom>
          <a:solidFill>
            <a:srgbClr val="EEE8DD"/>
          </a:solidFill>
          <a:ln/>
        </p:spPr>
      </p:sp>
      <p:sp>
        <p:nvSpPr>
          <p:cNvPr id="9" name="Text 7"/>
          <p:cNvSpPr/>
          <p:nvPr/>
        </p:nvSpPr>
        <p:spPr>
          <a:xfrm>
            <a:off x="806132" y="3011488"/>
            <a:ext cx="228425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Synchronization calculation implemented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5771" y="2866827"/>
            <a:ext cx="2573571" cy="698103"/>
          </a:xfrm>
          <a:prstGeom prst="roundRect">
            <a:avLst>
              <a:gd name="adj" fmla="val 3110"/>
            </a:avLst>
          </a:prstGeom>
          <a:solidFill>
            <a:srgbClr val="EEE8DD"/>
          </a:solidFill>
          <a:ln/>
        </p:spPr>
      </p:sp>
      <p:sp>
        <p:nvSpPr>
          <p:cNvPr id="11" name="Text 9"/>
          <p:cNvSpPr/>
          <p:nvPr/>
        </p:nvSpPr>
        <p:spPr>
          <a:xfrm>
            <a:off x="3490428" y="3011488"/>
            <a:ext cx="228425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ML-predicted UAV speeds tested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675658"/>
            <a:ext cx="2573571" cy="698103"/>
          </a:xfrm>
          <a:prstGeom prst="roundRect">
            <a:avLst>
              <a:gd name="adj" fmla="val 3110"/>
            </a:avLst>
          </a:prstGeom>
          <a:solidFill>
            <a:srgbClr val="EEE8DD"/>
          </a:solidFill>
          <a:ln/>
        </p:spPr>
      </p:sp>
      <p:sp>
        <p:nvSpPr>
          <p:cNvPr id="13" name="Text 11"/>
          <p:cNvSpPr/>
          <p:nvPr/>
        </p:nvSpPr>
        <p:spPr>
          <a:xfrm>
            <a:off x="806132" y="3820319"/>
            <a:ext cx="228425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Arrival-time synchronization demonstrated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771" y="3675658"/>
            <a:ext cx="2573571" cy="698103"/>
          </a:xfrm>
          <a:prstGeom prst="roundRect">
            <a:avLst>
              <a:gd name="adj" fmla="val 3110"/>
            </a:avLst>
          </a:prstGeom>
          <a:solidFill>
            <a:srgbClr val="EEE8DD"/>
          </a:solidFill>
          <a:ln/>
        </p:spPr>
      </p:sp>
      <p:sp>
        <p:nvSpPr>
          <p:cNvPr id="15" name="Text 13"/>
          <p:cNvSpPr/>
          <p:nvPr/>
        </p:nvSpPr>
        <p:spPr>
          <a:xfrm>
            <a:off x="3490428" y="3820319"/>
            <a:ext cx="228425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Contextual inputs implemented: Traffic / Load / Cost / Sync Error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484489"/>
            <a:ext cx="2573571" cy="902494"/>
          </a:xfrm>
          <a:prstGeom prst="roundRect">
            <a:avLst>
              <a:gd name="adj" fmla="val 2405"/>
            </a:avLst>
          </a:prstGeom>
          <a:solidFill>
            <a:srgbClr val="EEE8DD"/>
          </a:solidFill>
          <a:ln/>
        </p:spPr>
      </p:sp>
      <p:sp>
        <p:nvSpPr>
          <p:cNvPr id="17" name="Text 15"/>
          <p:cNvSpPr/>
          <p:nvPr/>
        </p:nvSpPr>
        <p:spPr>
          <a:xfrm>
            <a:off x="806132" y="4629150"/>
            <a:ext cx="228425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Contextual bandit implemented · MOVE / WAIT / RETRAIN logic demonstrated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5771" y="4484489"/>
            <a:ext cx="2573571" cy="902494"/>
          </a:xfrm>
          <a:prstGeom prst="roundRect">
            <a:avLst>
              <a:gd name="adj" fmla="val 2405"/>
            </a:avLst>
          </a:prstGeom>
          <a:solidFill>
            <a:srgbClr val="EEE8DD"/>
          </a:solidFill>
          <a:ln/>
        </p:spPr>
      </p:sp>
      <p:sp>
        <p:nvSpPr>
          <p:cNvPr id="19" name="Text 17"/>
          <p:cNvSpPr/>
          <p:nvPr/>
        </p:nvSpPr>
        <p:spPr>
          <a:xfrm>
            <a:off x="3490428" y="4629150"/>
            <a:ext cx="228425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WAIT / RETAIN execution &amp; dynamic reassessment demonstrated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475" y="5497711"/>
            <a:ext cx="5257867" cy="493713"/>
          </a:xfrm>
          <a:prstGeom prst="roundRect">
            <a:avLst>
              <a:gd name="adj" fmla="val 4397"/>
            </a:avLst>
          </a:prstGeom>
          <a:solidFill>
            <a:srgbClr val="EEE8DD"/>
          </a:solidFill>
          <a:ln/>
        </p:spPr>
      </p:sp>
      <p:sp>
        <p:nvSpPr>
          <p:cNvPr id="21" name="Text 19"/>
          <p:cNvSpPr/>
          <p:nvPr/>
        </p:nvSpPr>
        <p:spPr>
          <a:xfrm>
            <a:off x="806132" y="5642372"/>
            <a:ext cx="4968552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✓ Animated visualization prototype created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8703" y="1707356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REMAINING WORK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78703" y="2057995"/>
            <a:ext cx="2573571" cy="940594"/>
          </a:xfrm>
          <a:prstGeom prst="roundRect">
            <a:avLst>
              <a:gd name="adj" fmla="val 2308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2410" y="2221706"/>
            <a:ext cx="224615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Connect to real-time UAV telemetry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2999" y="2057995"/>
            <a:ext cx="2573571" cy="940594"/>
          </a:xfrm>
          <a:prstGeom prst="roundRect">
            <a:avLst>
              <a:gd name="adj" fmla="val 2308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6706" y="2221706"/>
            <a:ext cx="2246157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Integrate a full digital-twin simulation (higher-fidelity physics)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03" y="3109317"/>
            <a:ext cx="2573571" cy="940594"/>
          </a:xfrm>
          <a:prstGeom prst="roundRect">
            <a:avLst>
              <a:gd name="adj" fmla="val 2308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2410" y="3273028"/>
            <a:ext cx="2246157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Improve online contextual-bandit learning (lower regret, nonstationary context)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2999" y="3109317"/>
            <a:ext cx="2573571" cy="940594"/>
          </a:xfrm>
          <a:prstGeom prst="roundRect">
            <a:avLst>
              <a:gd name="adj" fmla="val 2308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26706" y="3273028"/>
            <a:ext cx="2246157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Implement robust adaptive retraining pipeline (safety &amp; validation)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78703" y="4160639"/>
            <a:ext cx="2573571" cy="940594"/>
          </a:xfrm>
          <a:prstGeom prst="roundRect">
            <a:avLst>
              <a:gd name="adj" fmla="val 2308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2410" y="4324350"/>
            <a:ext cx="224615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Validate with larger and more realistic datasets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62999" y="4160639"/>
            <a:ext cx="2573571" cy="940594"/>
          </a:xfrm>
          <a:prstGeom prst="roundRect">
            <a:avLst>
              <a:gd name="adj" fmla="val 2308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26706" y="4324350"/>
            <a:ext cx="2246157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Hardware / real-UAV or hardware-in-the-loop validation (future work)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1475" y="627677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746558">
              <a:alpha val="50000"/>
            </a:srgbClr>
          </a:solidFill>
          <a:ln/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0BCBC5-2FEC-5C69-4EEA-8ECDF663F67D}"/>
              </a:ext>
            </a:extLst>
          </p:cNvPr>
          <p:cNvSpPr/>
          <p:nvPr/>
        </p:nvSpPr>
        <p:spPr>
          <a:xfrm>
            <a:off x="11015932" y="6556075"/>
            <a:ext cx="1112808" cy="265413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73262"/>
            <a:ext cx="5203794" cy="40389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737618"/>
            <a:ext cx="5203794" cy="3486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Three UAVs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start from different positions.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UAV has a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different distance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travel.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orange star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represents the common target point.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blue dots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represent the initial positions.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colored lines show the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individual UAV paths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calculates suitable speeds for each UAV.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speed adjustment helps the UAVs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coordinate their arrival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demonstrates the project's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multi-UAV synchronization and coordinated movement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26D7A-2FDB-3759-FB97-4836A4057BA0}"/>
              </a:ext>
            </a:extLst>
          </p:cNvPr>
          <p:cNvSpPr/>
          <p:nvPr/>
        </p:nvSpPr>
        <p:spPr>
          <a:xfrm>
            <a:off x="10955547" y="6547449"/>
            <a:ext cx="1173193" cy="232913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0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STIMULATED OUTPUT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8898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746558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86868"/>
            <a:ext cx="3315014" cy="15643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63876"/>
            <a:ext cx="33150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graph shows how the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contextual bandit learns over time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The orange line is the average reward, which stays fairly stable, showing consistent learning and decision-making.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838" y="2086868"/>
            <a:ext cx="2667231" cy="16983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3996" y="3997821"/>
            <a:ext cx="331501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graph shows how often the bandit selected each action.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RETRAIN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was selected most frequently, followed by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WAIT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while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MOVE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was selected the least. This shows the model’s current action preference in the simulated environment.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517" y="2086868"/>
            <a:ext cx="3315014" cy="15348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6517" y="3834309"/>
            <a:ext cx="33150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graph compares synchronization error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before and after the UAV action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It shows how the system monitors the error and adjusts the UAVs through the closed-loop process.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F2DB0E-E8E4-26D7-3E2D-4E3D5389CD62}"/>
              </a:ext>
            </a:extLst>
          </p:cNvPr>
          <p:cNvSpPr/>
          <p:nvPr/>
        </p:nvSpPr>
        <p:spPr>
          <a:xfrm>
            <a:off x="11024558" y="6564702"/>
            <a:ext cx="1104182" cy="232913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2890"/>
            <a:ext cx="3315014" cy="15663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51882"/>
            <a:ext cx="33150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graph shows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fleet health over time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Battery gradually decreases, while network quality changes dynamically during the mission.</a:t>
            </a:r>
            <a:endParaRPr lang="en-US" sz="1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96" y="1372890"/>
            <a:ext cx="3315014" cy="14981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43996" y="3083620"/>
            <a:ext cx="33150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graph shows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model drift detection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When the rolling error crosses the threshold, the system detects that the model’s accuracy has degraded and triggers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retraining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4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517" y="1372890"/>
            <a:ext cx="3315014" cy="182512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26517" y="3410645"/>
            <a:ext cx="331501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graph compares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UAV arrival times before and after ML-based synchronization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The ML-adjusted speeds bring all three UAVs close to the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common target time of about 44.7 seconds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reducing the difference in their arrival times.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A23097-D0F3-BD7E-C8D8-D30FA0465EA9}"/>
              </a:ext>
            </a:extLst>
          </p:cNvPr>
          <p:cNvSpPr/>
          <p:nvPr/>
        </p:nvSpPr>
        <p:spPr>
          <a:xfrm>
            <a:off x="10998679" y="6547449"/>
            <a:ext cx="1121434" cy="241540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1190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Gelasio SemiBold</vt:lpstr>
      <vt:lpstr>Arial</vt:lpstr>
      <vt:lpstr>Gelasio</vt:lpstr>
      <vt:lpstr>Gelasio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Hasini Naidu</dc:creator>
  <cp:lastModifiedBy>Hasini Naidu</cp:lastModifiedBy>
  <cp:revision>4</cp:revision>
  <dcterms:created xsi:type="dcterms:W3CDTF">2026-09-30T05:41:17Z</dcterms:created>
  <dcterms:modified xsi:type="dcterms:W3CDTF">2026-10-03T15:06:19Z</dcterms:modified>
</cp:coreProperties>
</file>