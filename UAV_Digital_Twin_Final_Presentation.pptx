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114C52"/>
                </a:solidFill>
                <a:latin typeface="Aptos Display"/>
              </a:defRPr>
            </a:pPr>
            <a:r>
              <a:t>Distance to target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(m)</c:v>
                </c:pt>
              </c:strCache>
            </c:strRef>
          </c:tx>
          <c:spPr>
            <a:solidFill>
              <a:srgbClr val="237074"/>
            </a:solidFill>
            <a:ln>
              <a:solidFill>
                <a:srgbClr val="237074"/>
              </a:solidFill>
            </a:ln>
          </c:spPr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28.28</c:v>
                </c:pt>
                <c:pt idx="1">
                  <c:v>22.36</c:v>
                </c:pt>
                <c:pt idx="2">
                  <c:v>22.36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metres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114C52"/>
                </a:solidFill>
                <a:latin typeface="Aptos Display"/>
              </a:defRPr>
            </a:pPr>
            <a:r>
              <a:t>Initial estimated arrival times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ETA (s)</c:v>
                </c:pt>
              </c:strCache>
            </c:strRef>
          </c:tx>
          <c:spPr>
            <a:solidFill>
              <a:srgbClr val="237074"/>
            </a:solidFill>
            <a:ln>
              <a:solidFill>
                <a:srgbClr val="237074"/>
              </a:solidFill>
            </a:ln>
          </c:spPr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35.36</c:v>
                </c:pt>
                <c:pt idx="1">
                  <c:v>44.72</c:v>
                </c:pt>
                <c:pt idx="2">
                  <c:v>22.36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114C52"/>
                </a:solidFill>
                <a:latin typeface="Aptos Display"/>
              </a:defRPr>
            </a:pPr>
            <a:r>
              <a:t>Predicted speeds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speed (m/s)</c:v>
                </c:pt>
              </c:strCache>
            </c:strRef>
          </c:tx>
          <c:spPr>
            <a:solidFill>
              <a:srgbClr val="237074"/>
            </a:solidFill>
            <a:ln>
              <a:solidFill>
                <a:srgbClr val="237074"/>
              </a:solidFill>
            </a:ln>
          </c:spPr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0.629</c:v>
                </c:pt>
                <c:pt idx="1">
                  <c:v>0.498</c:v>
                </c:pt>
                <c:pt idx="2">
                  <c:v>0.496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114C52"/>
                </a:solidFill>
                <a:latin typeface="Aptos Display"/>
              </a:defRPr>
            </a:pPr>
            <a:r>
              <a:t>Arrival times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(s)</c:v>
                </c:pt>
              </c:strCache>
            </c:strRef>
          </c:tx>
          <c:spPr>
            <a:solidFill>
              <a:srgbClr val="237074"/>
            </a:solidFill>
            <a:ln>
              <a:solidFill>
                <a:srgbClr val="237074"/>
              </a:solidFill>
            </a:ln>
          </c:spPr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35.36</c:v>
                </c:pt>
                <c:pt idx="1">
                  <c:v>44.72</c:v>
                </c:pt>
                <c:pt idx="2">
                  <c:v>22.36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(s)</c:v>
                </c:pt>
              </c:strCache>
            </c:strRef>
          </c:tx>
          <c:spPr>
            <a:solidFill>
              <a:srgbClr val="CF9D4A"/>
            </a:solidFill>
            <a:ln>
              <a:solidFill>
                <a:srgbClr val="CF9D4A"/>
              </a:solidFill>
            </a:ln>
          </c:spPr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44.97</c:v>
                </c:pt>
                <c:pt idx="1">
                  <c:v>44.87</c:v>
                </c:pt>
                <c:pt idx="2">
                  <c:v>45.09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974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27313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C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005840"/>
            <a:ext cx="914400" cy="914400"/>
          </a:xfrm>
          <a:prstGeom prst="ellipse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2103120"/>
            <a:ext cx="594360" cy="594360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3749039"/>
            <a:ext cx="731520" cy="731520"/>
          </a:xfrm>
          <a:prstGeom prst="ellipse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754880"/>
            <a:ext cx="411480" cy="411480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5029200"/>
            <a:ext cx="320040" cy="320040"/>
          </a:xfrm>
          <a:prstGeom prst="ellipse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326880" y="1554480"/>
            <a:ext cx="1188720" cy="8229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784080" y="2377440"/>
            <a:ext cx="731520" cy="17373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4114800"/>
            <a:ext cx="1371600" cy="8229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321040" y="4114800"/>
            <a:ext cx="1463040" cy="109728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640080"/>
            <a:ext cx="749807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CF9D4A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7589520" cy="2011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CONTEXTUAL BANDIT-BASED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ADAPTIVE SYNCHRONIZATION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AND RETRAINING OF UAV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NETWORK DIGITAL TWINS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Machine Learning-Based Adaptive Multi-UAV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71323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N. Hasini — 2520040039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Ch. Sai Lahari — 2520040023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Guide: Mr. N. Lava Prasad, Assistant Professor, Department of ECE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Course: Machine Learning (25SC2107E)  |  A.Y.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CF9D4A"/>
                </a:solidFill>
                <a:latin typeface="Aptos"/>
              </a:defRPr>
            </a:pPr>
            <a:r>
              <a:rPr>
                <a:latin typeface="Aptos"/>
              </a:rPr>
              <a:t>FINAL PROJECT PRESENTATION  •  SOFTWARE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What the prototype demonstrates—and what remains 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01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Different UAV distances and speeds cause arrival-time mismatch.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02  ML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 Random Forest model explores required-speed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03  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 three-UAV simulation compares arrival times before and after speed adjustment.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37560"/>
            <a:ext cx="352044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3756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47472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04  Context-aware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04487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Traffic, load, cost and synchronization error are proposed as decision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37560"/>
            <a:ext cx="352044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3756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47472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05  Next 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04487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Train and validate a true online contextual-bandit policy and adaptive retraining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Scope note: current evidence is from a software prototype and synthetic scenarios, not real-UAV flight trials.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Background: UAV networks and digital 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Why coordination and twin freshness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UAVs are used in communication, surveillance, disaster response, inspection and delivery.</a:t>
            </a:r>
          </a:p>
          <a:p>
            <a:pPr>
              <a:spcAft>
                <a:spcPts val="1000"/>
              </a:spcAft>
              <a:defRPr sz="18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Each vehicle has its own position, speed, route, battery and communication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A Digital Twin (DT) is a virtual representation used to monitor, estimate and reason about the physical system.</a:t>
            </a:r>
          </a:p>
          <a:p>
            <a:pPr>
              <a:spcAft>
                <a:spcPts val="1000"/>
              </a:spcAft>
              <a:defRPr sz="18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The twin can become stale when the real network changes faster than it is updated.</a:t>
            </a:r>
          </a:p>
          <a:p>
            <a:pPr>
              <a:spcAft>
                <a:spcPts val="1000"/>
              </a:spcAft>
              <a:defRPr sz="18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Updating too often may consume communication bandwidth, energy and computation; updating too slowly may reduce fidelity.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Different starting distances and speeds create arrival-time mismatch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429000" cy="18288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82296" cy="18288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Unequal travel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 UAVs start at different coordinates and travel toward one common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82296" cy="18288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Unequal speeds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Different speed values create different estimated arrival times.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429000" cy="18288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82296" cy="18288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Changing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Traffic, network load, latency and operational cost can change during a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02412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Core question: when should the system MOVE, WAIT/RETAIN, synchronize the twin, or RETRAIN a model?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A fixed policy may waste resources or react too slowly when conditions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Prototype goals and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Simulate three UAVs moving toward a common target.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Calculate distance, estimated arrival time and fleet arrival-time spread.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Train a baseline Random Forest regressor on synthetic examples of required speed.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Compare synchronization before and after applying predicted speeds.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Define context features and illustrate MOVE / WAIT / RETRAIN decisions.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Document limitations and a practical path toward an evaluated contextual-bandit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Target design: telemetry → prediction → context-aware decision →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UAV /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position, speed,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battery,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7744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State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distance, ETA,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sync 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ML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required speed /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confidence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8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936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Context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traffic, load,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cost, delay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2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Decision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MOVE / WAIT /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RETRAIN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2980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4128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210312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4244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Twin update &amp;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act, observe,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reassess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60520"/>
            <a:ext cx="99669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Feedback loop: compare predicted and observed state; monitor drift and synchronization error; update the policy only when justified.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Architecture is the intended workflow; not every block is fully implemented in the current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Six stages for the proposed adaptive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1. Collect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Position, speed, target, network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08760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0876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2. Estimate 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Distance ÷ speed; compare fleet arrivals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3.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Baseline ML estimates required 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79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11879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4. Build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Traffic, load, cost, sync error, confidence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611879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611879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5. Choose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Policy selects MOVE / WAIT / RETRAIN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611879"/>
            <a:ext cx="3337560" cy="15087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611879"/>
            <a:ext cx="82296" cy="15087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6. Observe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Measure outcome and reassess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 feedback loop is a design goal; a validated online learning loop remains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Simulation setup: three UAVs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Initial coordinates, common target and speeds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Initial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86460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UAV 1: (0, 0)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UAV 2: (0, 10)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UAV 3: (10,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Motion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86460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Common target: (20, 20)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Initial speeds: 0.8, 0.5 and 1.0 m/s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Assumption: straight-line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57600"/>
            <a:ext cx="4754880" cy="19659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3886200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4544568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4440" y="5202936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60320" y="3886200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60320" y="4544568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0320" y="5202936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86200" y="3886200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86200" y="4544568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86200" y="5202936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79" y="3886200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79" y="4544568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79" y="5202936"/>
            <a:ext cx="109728" cy="10972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0160" y="5120640"/>
            <a:ext cx="201168" cy="20116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1328" y="507492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U1</a:t>
            </a:r>
          </a:p>
        </p:txBody>
      </p:sp>
      <p:sp>
        <p:nvSpPr>
          <p:cNvPr id="31" name="Oval 30"/>
          <p:cNvSpPr/>
          <p:nvPr/>
        </p:nvSpPr>
        <p:spPr>
          <a:xfrm>
            <a:off x="1280160" y="4462272"/>
            <a:ext cx="201168" cy="20116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441655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U2</a:t>
            </a:r>
          </a:p>
        </p:txBody>
      </p:sp>
      <p:sp>
        <p:nvSpPr>
          <p:cNvPr id="33" name="Oval 32"/>
          <p:cNvSpPr/>
          <p:nvPr/>
        </p:nvSpPr>
        <p:spPr>
          <a:xfrm>
            <a:off x="2606040" y="5120640"/>
            <a:ext cx="201168" cy="20116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507492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U3</a:t>
            </a:r>
          </a:p>
        </p:txBody>
      </p:sp>
      <p:sp>
        <p:nvSpPr>
          <p:cNvPr id="35" name="Oval 34"/>
          <p:cNvSpPr/>
          <p:nvPr/>
        </p:nvSpPr>
        <p:spPr>
          <a:xfrm>
            <a:off x="4983480" y="3886200"/>
            <a:ext cx="201168" cy="201168"/>
          </a:xfrm>
          <a:prstGeom prst="ellipse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384048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794760"/>
            <a:ext cx="475488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 diagram is schematic, not a geographic map. Coordinates are in metres for the toy simulation; real flight dynamics and obstacles are not modelled.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Distance and initial arrival-time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Using straight-line distance and ETA = distance /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1732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417320"/>
          <a:ext cx="53035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Values are computed from the stated coordinates and initial speeds; they are not measured flight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Synchronization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Measure the gap between earliest and latest arrival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29184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Earliest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min(t₁, t₂, t₃)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Latest arrival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max(t₁, t₂, t₃)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29184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Arrival-time spread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max(tᵢ) − min(tᵢ)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Lower spread means closer arrival-time alignment in this simplified simulation.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Important: some slides in the source deck also use the label “synchronization error” for a different value. This presentation uses arrival-time spread for the directly interpretable seconds-based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Machine-learning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Random Forest regression on synthetic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Model: RandomForestRegressor with 100 trees.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Training data: 1,000 synthetic scenarios.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Features described in the prototype: distance, current speed, arrival time, common time and synchronization error.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Target: required speed, generated from distance / common time and clipped to 0.2–2.0 m/s.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Split: 800 training rows and 200 testing rows.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The model learns a synthetic relationship; performance does not establish generalization to real UAV flight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ML training and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From generated scenarios to predicted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Create synthetic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state 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Select features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and target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7368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79976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800 train /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200 test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25896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18504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8504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Random Forest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regressor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64424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57032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57032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MAE and R²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02952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95560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95560" y="205740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Infer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Predict speed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for each UAV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9768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Reproducibility note: because the target is derived from the same scenario features, high test scores can be expected and should not be interpreted as real-world flight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Reported synthetic-model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Metrics shown in the earlier project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54480"/>
            <a:ext cx="4480560" cy="19659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554480"/>
            <a:ext cx="82296" cy="19659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691639"/>
            <a:ext cx="4133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MAE = 0.0294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21408"/>
            <a:ext cx="413308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Mean absolute error on the held-out synthetic test split.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4480560" cy="196596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554480"/>
            <a:ext cx="82296" cy="196596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691639"/>
            <a:ext cx="4133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R² = 0.9891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121408"/>
            <a:ext cx="413308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Coefficient of determination reported for the synthetic test split.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584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Interpretation: the model closely reproduces the synthetic target-generation rule under this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These figures are inherited from the project’s reported run; regenerate the notebook to verify them before final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Predicted speed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Prototype output used to adjust arrival-time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828800"/>
            <a:ext cx="3474720" cy="13716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82296" cy="13716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96596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UAV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395728"/>
            <a:ext cx="3127248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Distance 28.28 m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Predicted speed ≈ 0.629 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29000"/>
            <a:ext cx="3474720" cy="13716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429000"/>
            <a:ext cx="82296" cy="13716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56616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UAV 2 / UAV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995928"/>
            <a:ext cx="3127248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Predicted speeds ≈ 0.498 and 0.496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074920"/>
            <a:ext cx="3291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Illustrative software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Result: arrival-time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Before and after predicted-speed adjustment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4173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645920"/>
            <a:ext cx="4800600" cy="13258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45920"/>
            <a:ext cx="82296" cy="13258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783080"/>
            <a:ext cx="44531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Before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212848"/>
            <a:ext cx="4453128" cy="667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35.36 s, 44.72 s, 22.36 s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Spread ≈ 22.36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246120"/>
            <a:ext cx="4800600" cy="13258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246120"/>
            <a:ext cx="82296" cy="13258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383279"/>
            <a:ext cx="44531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After adjustment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3813048"/>
            <a:ext cx="4453128" cy="667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44.97 s, 44.87 s, 45.09 s</a:t>
            </a:r>
          </a:p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Spread ≈ 0.22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45720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Large reduction in arrival-time spread in the simplified simulation.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Contextual bandit: proposed decision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 decision depends on context and observed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A contextual bandit observes a context vector, selects an action, and receives feedback or reward.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Possible context: traffic level, network load, communication delay, synchronization error, model confidence and operational cost.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Candidate actions: MOVE, WAIT/RETAIN, synchronize/update the twin, or RETRAIN the prediction model.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A reward could trade off synchronization quality against update frequency, latency, energy and computation.</a:t>
            </a:r>
          </a:p>
          <a:p>
            <a:pPr>
              <a:spcAft>
                <a:spcPts val="1000"/>
              </a:spcAft>
              <a:defRPr sz="17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A genuine learning implementation needs a defined policy, reward observations, exploration strategy and evaluation over repeated episodes.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Current status: action logic is demonstrated illustratively; a validated trained online contextual-bandit policy remains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Context features and why they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Inputs proposed for the adaptive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474720" cy="141732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82296" cy="141732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Congestion or mission density can affect movement and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141732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141732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Network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High load may increase queueing and update delay.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474720" cy="141732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82296" cy="141732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Operational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Energy, bandwidth and computation should be considered.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83280"/>
            <a:ext cx="3474720" cy="141732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83280"/>
            <a:ext cx="82296" cy="141732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Synchronization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5020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 larger arrival-time spread may call for correction.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3474720" cy="141732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82296" cy="141732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Model confidence /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5020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Low confidence or rising prediction error may justify validation or retraining.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These are proposed context variables; the current toy simulation does not provide real network measurements.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Candidate actions: MOVE, WAIT/RETAIN, RETRAIN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Intended interpretation of each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82296" cy="20574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Continue or adjust UAV motion using a predicted speed, subject to safety and mission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429000" cy="20574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82296" cy="20574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WAIT / RETAIN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Temporarily hold the current action or retain the existing twin/model when immediate change is not justified.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29000" cy="20574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82296" cy="20574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RETRAIN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Trigger model update only after drift/quality checks and sufficient validated data are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101498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Safety note: a real UAV system must enforce collision avoidance, geofencing, battery reserve, communications-loss handling and operator override independently of the learning policy.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Adaptive reassessment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 conceptual response to changing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801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898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Collect new state and network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9659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21945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Compare prediction error and sync spread with thresholds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8803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1089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186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2186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Select MOVE / WAIT / RETRAIN under constraints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37947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40233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1330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1330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Apply safe action or keep the current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47091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" y="49377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0474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0474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Measure outcome; log reward and model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9875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This is a design workflow, not evidence of a fully deployed real-time controller.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Dataset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Synthetic synchronization data and public flight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12080" cy="20116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82296" cy="20116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Synthetic dataset used for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4864608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1,000 generated scenarios; 800 training and 200 test samples. Target required speed is calculated from distance and common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82296" cy="20116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0020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Public telemetry dataset explored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29968"/>
            <a:ext cx="4864608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Autonomous waypoint mission CSV includes time, position, altitude, velocity/speed and battery fields. It is not labelled for multi-UAV synchronization.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Source repository: https://github.com/yogesh031020/drone-flight-operations-data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2412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Dataset limitation: a single-flight telemetry record cannot directly validate fleet arrival synchronization, bandit reward or retraining decisions without additional labels and carefully designed experiments.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Public telemetry: fields and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Potential use for exploratory analysis—not direct proof of fleet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585216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14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14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Possible analysis</a:t>
                      </a:r>
                    </a:p>
                  </a:txBody>
                  <a:tcPr>
                    <a:solidFill>
                      <a:srgbClr val="114C5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time_s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Timestamp / elapsed time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Order samples; derive time intervals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lat, lon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Geographic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Track route and estimate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altitude_m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Explore vertical profile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vx_ms, vy_ms, vz_ms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Velocity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Derive or compare speed estimates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speed_ms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Speed magnitude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Baseline next-sample speed prediction</a:t>
                      </a:r>
                    </a:p>
                  </a:txBody>
                  <a:tcPr>
                    <a:solidFill>
                      <a:srgbClr val="EBF1E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battery_pct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Battery percentage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135"/>
                          </a:solidFill>
                          <a:latin typeface="Aptos"/>
                        </a:defRPr>
                      </a:pPr>
                      <a:r>
                        <a:t>Explore energy state /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9788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Confirm the actual CSV headers, missing values and sampling interval in the notebook before reporting dataset statistics.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Visualizations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What should be plotted and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15544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5544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Prediction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Actual vs predicted speed; residual plot; MAE and R².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5544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5544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Before/after arrival times; spread over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74720" cy="15544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5544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Policy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Action counts, cumulative reward and regret over episodes.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83280"/>
            <a:ext cx="3474720" cy="15544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83280"/>
            <a:ext cx="82296" cy="15544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Twin freshness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5020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Update frequency and prediction error / drift threshold.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3474720" cy="155448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82296" cy="155448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Resource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5020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Communication, energy and compute overhead, if measured.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Graphs without real measured values must be labelled as simulated or illustrative; do not present them as empirical results.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What the current prototype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Working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Random Forest regression and speed-prediction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Three-UAV arrival-time calculations and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600200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82296" cy="1600200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Reported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Synthetic test MAE 0.0294; R² 0.9891.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0332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Reported arrival-time spread: approximately 22.36 s before adjustment and 0.216 s after adjustment in the cited prototype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1005840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These results demonstrate feasibility of the toy synchronization calculation. They do not establish real-world safety, generalization or a trained contextual-bandit advantage.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Limitations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Current gaps that matter for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Three-UAV, straight-line simulation is a simplified model; no high-fidelity dynamics or obstacle avoidance.</a:t>
            </a:r>
          </a:p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Synthetic target generation can make prediction metrics optimistic.</a:t>
            </a:r>
          </a:p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Public single-flight telemetry does not itself provide fleet synchronization labels.</a:t>
            </a:r>
          </a:p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Contextual-bandit policy and reward must be trained and evaluated across repeated episodes before claiming learned behaviour.</a:t>
            </a:r>
          </a:p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Adaptive retraining needs drift detection, data validation, rollback and safety checks.</a:t>
            </a:r>
          </a:p>
          <a:p>
            <a:pPr>
              <a:spcAft>
                <a:spcPts val="1000"/>
              </a:spcAft>
              <a:defRPr sz="1600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•  No real UAV, hardware-in-the-loop or operational field validation is claimed.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F9D4A"/>
          </a:solidFill>
          <a:ln>
            <a:solidFill>
              <a:srgbClr val="CF9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14C52"/>
                </a:solidFill>
                <a:latin typeface="Aptos Display"/>
              </a:defRPr>
            </a:pPr>
            <a:r>
              <a:rPr>
                <a:latin typeface="Aptos"/>
              </a:rPr>
              <a:t>Future work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Steps to turn the prototype into a validated adaptive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8E0D8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97472"/>
                </a:solidFill>
                <a:latin typeface="Aptos"/>
              </a:defRPr>
            </a:pPr>
            <a:r>
              <a:rPr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39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1.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92807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Use synchronized multi-UAV telemetry and document labels / sampling.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463039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2. 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92807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Compare fixed policy, heuristic policy and ML-only synchronization.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8036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3. Bandit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1012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Implement a contextual policy with explicit action set and reward.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88036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4.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31012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Run repeated scenarios; report reward, regret, sync spread and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6052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5. Retraining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2744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Add drift checks, minimum-data rules, validation and rollback.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60520"/>
            <a:ext cx="5212080" cy="1115568"/>
          </a:xfrm>
          <a:prstGeom prst="roundRect">
            <a:avLst/>
          </a:prstGeom>
          <a:solidFill>
            <a:srgbClr val="EBF1EC"/>
          </a:solidFill>
          <a:ln>
            <a:solidFill>
              <a:srgbClr val="D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160520"/>
            <a:ext cx="82296" cy="1115568"/>
          </a:xfrm>
          <a:prstGeom prst="rect">
            <a:avLst/>
          </a:prstGeom>
          <a:solidFill>
            <a:srgbClr val="237074"/>
          </a:solidFill>
          <a:ln>
            <a:solidFill>
              <a:srgbClr val="237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2976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4C52"/>
                </a:solidFill>
                <a:latin typeface="Aptos"/>
              </a:defRPr>
            </a:pPr>
            <a:r>
              <a:rPr>
                <a:latin typeface="Aptos"/>
              </a:rPr>
              <a:t>6.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72744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Add constraints, fault handling and simulation / hardware-in-loop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273135"/>
                </a:solidFill>
                <a:latin typeface="Aptos"/>
              </a:defRPr>
            </a:pPr>
            <a:r>
              <a:rPr>
                <a:latin typeface="Aptos"/>
              </a:rPr>
              <a:t>Success criterion: improved synchronization and twin freshness without unjustified update, energy or communication overhead.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